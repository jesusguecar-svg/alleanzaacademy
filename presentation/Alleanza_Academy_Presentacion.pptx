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3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5760720" cy="19711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3886200"/>
            <a:ext cx="2926080" cy="4572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EAECF3"/>
                </a:solidFill>
                <a:latin typeface="Inter"/>
              </a:rPr>
              <a:t>Preparación para el examen de licencia de seguros de Salud y 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92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Reunión de alineación estratégica previa al lanzamiento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AECF3"/>
                </a:solidFill>
                <a:latin typeface="Inter"/>
              </a:rPr>
              <a:t>Participantes: Jesús Esteban Guerra · Guillermo · Cynthia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5B6070"/>
                </a:solidFill>
                <a:latin typeface="Inter"/>
              </a:rPr>
              <a:t>23 de junio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POR QUÉ — LA VISIÓN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Una academia al servicio de la visión integral de la organización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61330"/>
                </a:solidFill>
                <a:latin typeface="Inter"/>
              </a:rPr>
              <a:t>El objetivo no es vender cursos: es </a:t>
            </a:r>
            <a:r>
              <a:rPr sz="1500" b="1">
                <a:solidFill>
                  <a:srgbClr val="7C46A6"/>
                </a:solidFill>
                <a:latin typeface="Inter"/>
              </a:rPr>
              <a:t>resolver in-house cada necesidad del agente</a:t>
            </a:r>
            <a:r>
              <a:rPr sz="1500" b="0">
                <a:solidFill>
                  <a:srgbClr val="061330"/>
                </a:solidFill>
                <a:latin typeface="Inter"/>
              </a:rPr>
              <a:t>. El gran ingreso viene de la producción; la academia acelera que más agentes se licencien y produzcan, antes y mejor.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88920"/>
            <a:ext cx="3429000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78892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2666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Todo dentro de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30168"/>
            <a:ext cx="302666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El agente obtiene su licencia, certificación y formación continua sin salir de Alleanza. Menos fricción, más retención.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6552" y="2788920"/>
            <a:ext cx="3429000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78892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02666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Acelera la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30168"/>
            <a:ext cx="302666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Cada agente licenciado antes es un agente que produce antes. La academia alimenta el motor de ingresos real.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788920"/>
            <a:ext cx="3429000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278892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02666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Autosostenible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630168"/>
            <a:ext cx="3026664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Se financia con las inscripciones: no es un centro de costo, es un recurso que se paga solo y crece con la organización.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Preparación real para aprobar el examen de Salud y 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5577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61330"/>
                </a:solidFill>
                <a:latin typeface="Inter"/>
              </a:rPr>
              <a:t>Nuestro propósito: </a:t>
            </a:r>
            <a:r>
              <a:rPr sz="1500" b="1">
                <a:solidFill>
                  <a:srgbClr val="7C46A6"/>
                </a:solidFill>
                <a:latin typeface="Inter"/>
              </a:rPr>
              <a:t>ayudar al agente a pasar en su siguiente intento</a:t>
            </a:r>
            <a:r>
              <a:rPr sz="1500" b="0">
                <a:solidFill>
                  <a:srgbClr val="061330"/>
                </a:solidFill>
                <a:latin typeface="Inter"/>
              </a:rPr>
              <a:t>, sea el primero o no. No preparamos para lucir bien; preparamos para aprobar — y en español, con los términos clave en inglés.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5486400" cy="260604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EL NÚCLEO DEL MÉTODO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Simulador de examen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52628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EAECF3"/>
                </a:solidFill>
                <a:latin typeface="Inter"/>
              </a:rPr>
              <a:t>Recrea las condiciones reales del examen para que el agente llegue verdaderamente preparado. Todo lo demás es complemento de esto.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8308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RECURSOS COMPLEMENTARIOS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2860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1450" b="1">
                <a:solidFill>
                  <a:srgbClr val="7C46A6"/>
                </a:solidFill>
                <a:latin typeface="Inter"/>
              </a:rPr>
              <a:t>●  </a:t>
            </a:r>
            <a:r>
              <a:rPr sz="1450" b="0">
                <a:solidFill>
                  <a:srgbClr val="061330"/>
                </a:solidFill>
                <a:latin typeface="Inter"/>
              </a:rPr>
              <a:t>Clases en vivo por Zoom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1450" b="1">
                <a:solidFill>
                  <a:srgbClr val="7C46A6"/>
                </a:solidFill>
                <a:latin typeface="Inter"/>
              </a:rPr>
              <a:t>●  </a:t>
            </a:r>
            <a:r>
              <a:rPr sz="1450" b="0">
                <a:solidFill>
                  <a:srgbClr val="061330"/>
                </a:solidFill>
                <a:latin typeface="Inter"/>
              </a:rPr>
              <a:t>Lecciones en video interactivo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1450" b="1">
                <a:solidFill>
                  <a:srgbClr val="7C46A6"/>
                </a:solidFill>
                <a:latin typeface="Inter"/>
              </a:rPr>
              <a:t>●  </a:t>
            </a:r>
            <a:r>
              <a:rPr sz="1450" b="0">
                <a:solidFill>
                  <a:srgbClr val="061330"/>
                </a:solidFill>
                <a:latin typeface="Inter"/>
              </a:rPr>
              <a:t>Flashcards de repaso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1450" b="1">
                <a:solidFill>
                  <a:srgbClr val="7C46A6"/>
                </a:solidFill>
                <a:latin typeface="Inter"/>
              </a:rPr>
              <a:t>●  </a:t>
            </a:r>
            <a:r>
              <a:rPr sz="1450" b="0">
                <a:solidFill>
                  <a:srgbClr val="061330"/>
                </a:solidFill>
                <a:latin typeface="Inter"/>
              </a:rPr>
              <a:t>Audio / podcasts para estudiar en cualquier momento</a:t>
            </a:r>
          </a:p>
          <a:p>
            <a:pPr algn="l">
              <a:lnSpc>
                <a:spcPct val="108000"/>
              </a:lnSpc>
              <a:spcAft>
                <a:spcPts val="1500"/>
              </a:spcAft>
            </a:pPr>
            <a:r>
              <a:rPr sz="1450" b="1">
                <a:solidFill>
                  <a:srgbClr val="7C46A6"/>
                </a:solidFill>
                <a:latin typeface="Inter"/>
              </a:rPr>
              <a:t>●  </a:t>
            </a:r>
            <a:r>
              <a:rPr sz="1450" b="0">
                <a:solidFill>
                  <a:srgbClr val="061330"/>
                </a:solidFill>
                <a:latin typeface="Inter"/>
              </a:rPr>
              <a:t>Material de lectura estructurado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POSICIONAMIENTO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Por qué Alleanza Academy gana donde importa: aprobar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64208"/>
          <a:ext cx="10515600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108960"/>
                <a:gridCol w="2560320"/>
                <a:gridCol w="2743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Inter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613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9958D7"/>
                          </a:solidFill>
                          <a:latin typeface="Inter"/>
                        </a:rPr>
                        <a:t>Alleanza Academy</a:t>
                      </a:r>
                    </a:p>
                  </a:txBody>
                  <a:tcPr marL="91440" marR="73152" marT="36576" marB="36576" anchor="ctr">
                    <a:solidFill>
                      <a:srgbClr val="0613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Inter"/>
                        </a:rPr>
                        <a:t>Kaplan / Xcel</a:t>
                      </a:r>
                    </a:p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Inter"/>
                        </a:rPr>
                        <a:t>(nacionales)</a:t>
                      </a:r>
                    </a:p>
                  </a:txBody>
                  <a:tcPr marL="91440" marR="73152" marT="36576" marB="36576" anchor="ctr">
                    <a:solidFill>
                      <a:srgbClr val="0613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Inter"/>
                        </a:rPr>
                        <a:t>Instructores sueltos</a:t>
                      </a:r>
                    </a:p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Inter"/>
                        </a:rPr>
                        <a:t>(María Papi · Aaron)</a:t>
                      </a:r>
                    </a:p>
                  </a:txBody>
                  <a:tcPr marL="91440" marR="73152" marT="36576" marB="36576" anchor="ctr">
                    <a:solidFill>
                      <a:srgbClr val="06133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Propósito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7C46A6"/>
                          </a:solidFill>
                          <a:latin typeface="Inter"/>
                        </a:rPr>
                        <a:t>Que apruebes el examen</a:t>
                      </a:r>
                    </a:p>
                  </a:txBody>
                  <a:tcPr marL="91440" marR="73152" marT="36576" marB="36576" anchor="ctr">
                    <a:solidFill>
                      <a:srgbClr val="EA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Cumplir el requisito de curso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Dar clase / repaso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Idioma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Inter"/>
                        </a:rPr>
                        <a:t>Español, con términos clave en inglés</a:t>
                      </a:r>
                    </a:p>
                  </a:txBody>
                  <a:tcPr marL="91440" marR="73152" marT="36576" marB="36576" anchor="ctr">
                    <a:solidFill>
                      <a:srgbClr val="7C46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Solo en inglés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Español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Simulador realista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7C46A6"/>
                          </a:solidFill>
                          <a:latin typeface="Inter"/>
                        </a:rPr>
                        <a:t>Sí — núcleo del método</a:t>
                      </a:r>
                    </a:p>
                  </a:txBody>
                  <a:tcPr marL="91440" marR="73152" marT="36576" marB="36576" anchor="ctr">
                    <a:solidFill>
                      <a:srgbClr val="EA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Genérico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Pocas diapositivas / no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Formatos de estudio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7C46A6"/>
                          </a:solidFill>
                          <a:latin typeface="Inter"/>
                        </a:rPr>
                        <a:t>Zoom + video + flashcards + podcast + lectura</a:t>
                      </a:r>
                    </a:p>
                  </a:txBody>
                  <a:tcPr marL="91440" marR="73152" marT="36576" marB="36576" anchor="ctr">
                    <a:solidFill>
                      <a:srgbClr val="EA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Online autoguiado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Un solo formato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Pre-licencia (req. FL)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7C46A6"/>
                          </a:solidFill>
                          <a:latin typeface="Inter"/>
                        </a:rPr>
                        <a:t>Opcional — te acompañamos</a:t>
                      </a:r>
                    </a:p>
                  </a:txBody>
                  <a:tcPr marL="91440" marR="73152" marT="36576" marB="36576" anchor="ctr">
                    <a:solidFill>
                      <a:srgbClr val="EA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Incluido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A veces, con fee aparte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1330"/>
                          </a:solidFill>
                          <a:latin typeface="Inter"/>
                        </a:rPr>
                        <a:t>Inversión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7C46A6"/>
                          </a:solidFill>
                          <a:latin typeface="Inter"/>
                        </a:rPr>
                        <a:t>$107 lanzamiento (valor $350)</a:t>
                      </a:r>
                    </a:p>
                  </a:txBody>
                  <a:tcPr marL="91440" marR="73152" marT="36576" marB="36576" anchor="ctr">
                    <a:solidFill>
                      <a:srgbClr val="EA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Mayor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B6070"/>
                          </a:solidFill>
                          <a:latin typeface="Inter"/>
                        </a:rPr>
                        <a:t>$100 (María) / mensual (Aaron)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98932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7C46A6"/>
                </a:solidFill>
                <a:latin typeface="Inter"/>
              </a:rPr>
              <a:t>Honestidad: </a:t>
            </a:r>
            <a:r>
              <a:rPr sz="1050" b="0" i="1">
                <a:solidFill>
                  <a:srgbClr val="5B6070"/>
                </a:solidFill>
                <a:latin typeface="Inter"/>
              </a:rPr>
              <a:t>no cumplimos el requisito de pre-licencia como Kaplan/Xcel — por eso lo ofrecemos como apoyo opcional. Nuestro foco es que el agente apruebe.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LA URGENCIA — EQUIPOS COMO MIAMI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Rutas según el tiempo de cada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061330"/>
                </a:solidFill>
                <a:latin typeface="Inter"/>
              </a:rPr>
              <a:t>Equipos como Miami necesitan licenciar y capacitar agentes ya. Respondemos con rutas flexibles, no un calendario rígido — con el mismo estándar de calidad.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743200"/>
            <a:ext cx="5029200" cy="269748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RUTA INTENSIVA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01568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Inter"/>
              </a:rPr>
              <a:t>≈ 2 semanas al examen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1480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EAECF3"/>
                </a:solidFill>
                <a:latin typeface="Inter"/>
              </a:rPr>
              <a:t>Para quienes deben presentar el examen con urgencia. Ritmo acelerado, enfocado 100% en aprobar.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743200"/>
            <a:ext cx="5029200" cy="269748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7C46A6"/>
                </a:solidFill>
                <a:latin typeface="Inter"/>
              </a:rPr>
              <a:t>RUTA DE UN 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401568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300" b="1">
                <a:solidFill>
                  <a:srgbClr val="061330"/>
                </a:solidFill>
                <a:latin typeface="Inter"/>
              </a:rPr>
              <a:t>≈ 1 mes, con profundidad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480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00" b="0">
                <a:solidFill>
                  <a:srgbClr val="5B6070"/>
                </a:solidFill>
                <a:latin typeface="Inter"/>
              </a:rPr>
              <a:t>Para quienes prefieren más tiempo, afianzar conceptos y llegar al examen con mayor dominio.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596128"/>
            <a:ext cx="10515600" cy="566928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650992"/>
            <a:ext cx="10149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7C46A6"/>
                </a:solidFill>
                <a:latin typeface="Inter"/>
              </a:rPr>
              <a:t>Acceso: </a:t>
            </a:r>
            <a:r>
              <a:rPr sz="1200" b="0">
                <a:solidFill>
                  <a:srgbClr val="061330"/>
                </a:solidFill>
                <a:latin typeface="Inter"/>
              </a:rPr>
              <a:t>1 mes en la plataforma para estudiar + 2 semanas para practicar y presentar el examen.  Extensión: $50 / 2 semanas.   </a:t>
            </a:r>
            <a:r>
              <a:rPr sz="1200" b="1">
                <a:solidFill>
                  <a:srgbClr val="7C46A6"/>
                </a:solidFill>
                <a:latin typeface="Inter"/>
              </a:rPr>
              <a:t>Acompañamiento directo del instructor de la academia.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PRECIO Y PROMOCIÓN DE LANZAMIENTO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Valor de mercado, precio de apoyo a nuestras agencias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5120640" cy="237744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5B6070"/>
                </a:solidFill>
                <a:latin typeface="Inter"/>
              </a:rPr>
              <a:t>VALOR COMPARADO CON LA COMPETENCIA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1460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5B6070"/>
                </a:solidFill>
                <a:latin typeface="Inter"/>
              </a:rPr>
              <a:t>$350 </a:t>
            </a:r>
            <a:r>
              <a:rPr sz="1600" b="0">
                <a:solidFill>
                  <a:srgbClr val="5B6070"/>
                </a:solidFill>
                <a:latin typeface="Inter"/>
              </a:rPr>
              <a:t>promedio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5B6070"/>
                </a:solidFill>
                <a:latin typeface="Inter"/>
              </a:rPr>
              <a:t>Lo que cuesta prepararse con opciones equivalentes del mercado.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874519"/>
            <a:ext cx="5212080" cy="237744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PRECIO DE LANZAMIENTO — CÓDIGO PROMOCIONAL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572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Inter"/>
              </a:rPr>
              <a:t>$107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663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Inter"/>
              </a:rPr>
              <a:t>Exclusivo para agentes de Alleanza. </a:t>
            </a:r>
            <a:r>
              <a:rPr sz="1250" b="0">
                <a:solidFill>
                  <a:srgbClr val="EAECF3"/>
                </a:solidFill>
                <a:latin typeface="Inter"/>
              </a:rPr>
              <a:t>Cupón aplicado en TutorLMS antes de pagar en la pasarela.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Cómo funciona:  </a:t>
            </a:r>
            <a:r>
              <a:rPr sz="1300" b="0">
                <a:solidFill>
                  <a:srgbClr val="061330"/>
                </a:solidFill>
                <a:latin typeface="Inter"/>
              </a:rPr>
              <a:t>el agente entra al curso en TutorLMS  →  aplica el código promocional  →  paga en la pasarela el precio con descuento.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7C46A6"/>
                </a:solidFill>
                <a:latin typeface="Inter"/>
              </a:rPr>
              <a:t>Mensaje clave: </a:t>
            </a:r>
            <a:r>
              <a:rPr sz="1100" b="0" i="1">
                <a:solidFill>
                  <a:srgbClr val="5B6070"/>
                </a:solidFill>
                <a:latin typeface="Inter"/>
              </a:rPr>
              <a:t>posicionar primero el propósito (aprobar) y el valor; el precio se percibe como un beneficio, no como un gasto.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SERVICIOS OPCIONALES (A-LA-CARTE)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Acompañamiento extra, separado del precio del 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61330"/>
                </a:solidFill>
                <a:latin typeface="Inter"/>
              </a:rPr>
              <a:t>No incluimos esto en el precio del curso. Quien lo necesite nos contacta directamente y lo apoyamos. Lo mostramos desglosado para total transparencia: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542032" cy="274320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697480"/>
            <a:ext cx="2542032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17627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61330"/>
                </a:solidFill>
                <a:latin typeface="Inter"/>
              </a:rPr>
              <a:t>Curso de pre-licencia (Xcel)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7C46A6"/>
                </a:solidFill>
                <a:latin typeface="Inter"/>
              </a:rPr>
              <a:t>$30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217627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5B6070"/>
                </a:solidFill>
                <a:latin typeface="Inter"/>
              </a:rPr>
              <a:t>Requisito en Florida (en Texas no aplica). Generalmente en inglés.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1296" y="2697480"/>
            <a:ext cx="2542032" cy="274320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296" y="2697480"/>
            <a:ext cx="2542032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926080"/>
            <a:ext cx="217627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61330"/>
                </a:solidFill>
                <a:latin typeface="Inter"/>
              </a:rPr>
              <a:t>Cita de examen (Pearson VUE)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749039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7C46A6"/>
                </a:solidFill>
                <a:latin typeface="Inter"/>
              </a:rPr>
              <a:t>$50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4389120"/>
            <a:ext cx="217627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5B6070"/>
                </a:solidFill>
                <a:latin typeface="Inter"/>
              </a:rPr>
              <a:t>Agendamiento del examen oficial ante Pearson VUE.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2697480"/>
            <a:ext cx="2542032" cy="274320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2697480"/>
            <a:ext cx="2542032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926080"/>
            <a:ext cx="217627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61330"/>
                </a:solidFill>
                <a:latin typeface="Inter"/>
              </a:rPr>
              <a:t>Cita de huellas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749039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7C46A6"/>
                </a:solidFill>
                <a:latin typeface="Inter"/>
              </a:rPr>
              <a:t>Según costo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389120"/>
            <a:ext cx="217627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5B6070"/>
                </a:solidFill>
                <a:latin typeface="Inter"/>
              </a:rPr>
              <a:t>Toma de huellas requerida para el trámite (costo del proveedor).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87968" y="2697480"/>
            <a:ext cx="2542032" cy="2743200"/>
          </a:xfrm>
          <a:prstGeom prst="rect">
            <a:avLst/>
          </a:prstGeom>
          <a:solidFill>
            <a:srgbClr val="EAE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87968" y="2697480"/>
            <a:ext cx="2542032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2926080"/>
            <a:ext cx="217627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061330"/>
                </a:solidFill>
                <a:latin typeface="Inter"/>
              </a:rPr>
              <a:t>Asistencia administrativa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3749039"/>
            <a:ext cx="217627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7C46A6"/>
                </a:solidFill>
                <a:latin typeface="Inter"/>
              </a:rPr>
              <a:t>$50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389120"/>
            <a:ext cx="217627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>
                <a:solidFill>
                  <a:srgbClr val="5B6070"/>
                </a:solidFill>
                <a:latin typeface="Inter"/>
              </a:rPr>
              <a:t>Nuestro acompañamiento para gestionar y coordinar todo el proceso.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150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7C46A6"/>
                </a:solidFill>
                <a:latin typeface="Inter"/>
              </a:rPr>
              <a:t>Por qué separado: </a:t>
            </a:r>
            <a:r>
              <a:rPr sz="1100" b="0" i="1">
                <a:solidFill>
                  <a:srgbClr val="5B6070"/>
                </a:solidFill>
                <a:latin typeface="Inter"/>
              </a:rPr>
              <a:t>mantiene el curso principal en $107 y cubre estos costos reales sin inflar el precio de entrada.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CAPITALIZAR EL CONOCIMIENTO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Las clases grabadas como formación permanente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61330"/>
                </a:solidFill>
                <a:latin typeface="Inter"/>
              </a:rPr>
              <a:t>Ya tenemos muchas clases por Zoom grabadas. Propuesta: convertir ese conocimiento en una </a:t>
            </a:r>
            <a:r>
              <a:rPr sz="1500" b="1">
                <a:solidFill>
                  <a:srgbClr val="7C46A6"/>
                </a:solidFill>
                <a:latin typeface="Inter"/>
              </a:rPr>
              <a:t>biblioteca de acceso continuo</a:t>
            </a:r>
            <a:r>
              <a:rPr sz="1500" b="0">
                <a:solidFill>
                  <a:srgbClr val="061330"/>
                </a:solidFill>
                <a:latin typeface="Inter"/>
              </a:rPr>
              <a:t> para toda la organización.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34290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83464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7238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Qué 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75888"/>
            <a:ext cx="3026664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Catálogo on-demand de clases ya grabadas, organizado por tema y nivel para repaso permanente.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6552" y="2834640"/>
            <a:ext cx="34290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83464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07238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Modelo de acceso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75888"/>
            <a:ext cx="3026664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Esquema de suscripción / acceso a evaluar: beneficio para agentes activos y/o módulo complementario.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834640"/>
            <a:ext cx="3429000" cy="2697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2834640"/>
            <a:ext cx="3429000" cy="82296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07238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061330"/>
                </a:solidFill>
                <a:latin typeface="Inter"/>
              </a:rPr>
              <a:t>A decidir juntos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675888"/>
            <a:ext cx="3026664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B6070"/>
                </a:solidFill>
                <a:latin typeface="Inter"/>
              </a:rPr>
              <a:t>¿Gratis para retener talento, de pago para sostener la plataforma, o híbrido?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3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958D7"/>
                </a:solidFill>
                <a:latin typeface="Inter"/>
              </a:rPr>
              <a:t>CRECIMIENTO Y SOSTENIBILIDAD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100" b="1">
                <a:solidFill>
                  <a:srgbClr val="FFFFFF"/>
                </a:solidFill>
                <a:latin typeface="Inter"/>
              </a:rPr>
              <a:t>Instructores que nacen dentro de Alleanza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424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EAECF3"/>
                </a:solidFill>
                <a:latin typeface="Inter"/>
              </a:rPr>
              <a:t>A futuro, tras el curso inicial: agentes que crecieron en la casa se vuelven instructores. Comparten su experiencia real y </a:t>
            </a:r>
            <a:r>
              <a:rPr sz="1450" b="1">
                <a:solidFill>
                  <a:srgbClr val="9958D7"/>
                </a:solidFill>
                <a:latin typeface="Inter"/>
              </a:rPr>
              <a:t>generan ingresos adicionales</a:t>
            </a:r>
            <a:r>
              <a:rPr sz="1450" b="0">
                <a:solidFill>
                  <a:srgbClr val="EAECF3"/>
                </a:solidFill>
                <a:latin typeface="Inter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26080"/>
            <a:ext cx="3429000" cy="2331720"/>
          </a:xfrm>
          <a:prstGeom prst="rect">
            <a:avLst/>
          </a:prstGeom>
          <a:solidFill>
            <a:srgbClr val="122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3429000" cy="82296"/>
          </a:xfrm>
          <a:prstGeom prst="rect">
            <a:avLst/>
          </a:prstGeom>
          <a:solidFill>
            <a:srgbClr val="9958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6382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Inter"/>
              </a:rPr>
              <a:t>Para el 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67328"/>
            <a:ext cx="302666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EAECF3"/>
                </a:solidFill>
                <a:latin typeface="Inter"/>
              </a:rPr>
              <a:t>Una vía de ingreso extra y reconocimiento por su trayectoria dentro de la casa.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6552" y="2926080"/>
            <a:ext cx="3429000" cy="2331720"/>
          </a:xfrm>
          <a:prstGeom prst="rect">
            <a:avLst/>
          </a:prstGeom>
          <a:solidFill>
            <a:srgbClr val="122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6552" y="2926080"/>
            <a:ext cx="3429000" cy="82296"/>
          </a:xfrm>
          <a:prstGeom prst="rect">
            <a:avLst/>
          </a:prstGeom>
          <a:solidFill>
            <a:srgbClr val="9958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16382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Inter"/>
              </a:rPr>
              <a:t>Para la academia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67328"/>
            <a:ext cx="302666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EAECF3"/>
                </a:solidFill>
                <a:latin typeface="Inter"/>
              </a:rPr>
              <a:t>Banco de instructores creciente y sostenibilidad de la plataforma a largo plazo.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2926080"/>
            <a:ext cx="3429000" cy="2331720"/>
          </a:xfrm>
          <a:prstGeom prst="rect">
            <a:avLst/>
          </a:prstGeom>
          <a:solidFill>
            <a:srgbClr val="122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2926080"/>
            <a:ext cx="3429000" cy="82296"/>
          </a:xfrm>
          <a:prstGeom prst="rect">
            <a:avLst/>
          </a:prstGeom>
          <a:solidFill>
            <a:srgbClr val="9958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163824"/>
            <a:ext cx="302666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Inter"/>
              </a:rPr>
              <a:t>Para la organización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2" y="3767328"/>
            <a:ext cx="302666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EAECF3"/>
                </a:solidFill>
                <a:latin typeface="Inter"/>
              </a:rPr>
              <a:t>Conocimiento que se queda y se multiplica internamente; cultura que se refuerza.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5321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958D7"/>
                </a:solidFill>
                <a:latin typeface="Inter"/>
              </a:rPr>
              <a:t>Beneficio mutuo: </a:t>
            </a:r>
            <a:r>
              <a:rPr sz="1300" b="0">
                <a:solidFill>
                  <a:srgbClr val="EAECF3"/>
                </a:solidFill>
                <a:latin typeface="Inter"/>
              </a:rPr>
              <a:t>oportunidades para ellos, sostenibilidad para la plataforma.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EAECF3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EAECF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lleanz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6074" y="384048"/>
            <a:ext cx="1282701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PRÓXIMOS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100" b="1">
                <a:solidFill>
                  <a:srgbClr val="061330"/>
                </a:solidFill>
                <a:latin typeface="Inter"/>
              </a:rPr>
              <a:t>Alinearnos hoy para lanzar con solidez esta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EN QUÉ NECESITAMOS ALINEARNOS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350" b="1">
                <a:solidFill>
                  <a:srgbClr val="7C46A6"/>
                </a:solidFill>
                <a:latin typeface="Inter"/>
              </a:rPr>
              <a:t>●  </a:t>
            </a:r>
            <a:r>
              <a:rPr sz="1350" b="0">
                <a:solidFill>
                  <a:srgbClr val="061330"/>
                </a:solidFill>
                <a:latin typeface="Inter"/>
              </a:rPr>
              <a:t>Mensaje y posicionamiento ante los directores.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350" b="1">
                <a:solidFill>
                  <a:srgbClr val="7C46A6"/>
                </a:solidFill>
                <a:latin typeface="Inter"/>
              </a:rPr>
              <a:t>●  </a:t>
            </a:r>
            <a:r>
              <a:rPr sz="1350" b="0">
                <a:solidFill>
                  <a:srgbClr val="061330"/>
                </a:solidFill>
                <a:latin typeface="Inter"/>
              </a:rPr>
              <a:t>Cómo comunicar beneficios, alcance y precio del curso.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350" b="1">
                <a:solidFill>
                  <a:srgbClr val="7C46A6"/>
                </a:solidFill>
                <a:latin typeface="Inter"/>
              </a:rPr>
              <a:t>●  </a:t>
            </a:r>
            <a:r>
              <a:rPr sz="1350" b="0">
                <a:solidFill>
                  <a:srgbClr val="061330"/>
                </a:solidFill>
                <a:latin typeface="Inter"/>
              </a:rPr>
              <a:t>Modelo de acceso a las clases grabadas.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350" b="1">
                <a:solidFill>
                  <a:srgbClr val="7C46A6"/>
                </a:solidFill>
                <a:latin typeface="Inter"/>
              </a:rPr>
              <a:t>●  </a:t>
            </a:r>
            <a:r>
              <a:rPr sz="1350" b="0">
                <a:solidFill>
                  <a:srgbClr val="061330"/>
                </a:solidFill>
                <a:latin typeface="Inter"/>
              </a:rPr>
              <a:t>Prioridad operativa para equipos urgentes (Miami).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7C46A6"/>
                </a:solidFill>
                <a:latin typeface="Inter"/>
              </a:rPr>
              <a:t>SECUENCIA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240280"/>
            <a:ext cx="457200" cy="4572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240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22199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061330"/>
                </a:solidFill>
                <a:latin typeface="Inter"/>
              </a:rPr>
              <a:t>Lanzar esta semana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551176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070"/>
                </a:solidFill>
                <a:latin typeface="Inter"/>
              </a:rPr>
              <a:t>Curso, rutas y promoción listos.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108960"/>
            <a:ext cx="457200" cy="4572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108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09067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061330"/>
                </a:solidFill>
                <a:latin typeface="Inter"/>
              </a:rPr>
              <a:t>Preparar el FAQ de directores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419856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070"/>
                </a:solidFill>
                <a:latin typeface="Inter"/>
              </a:rPr>
              <a:t>Cómo manejar, presentar y comunicar la academia.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77640"/>
            <a:ext cx="457200" cy="4572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39776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395935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061330"/>
                </a:solidFill>
                <a:latin typeface="Inter"/>
              </a:rPr>
              <a:t>Retroalimentación post-lanzamiento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88536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070"/>
                </a:solidFill>
                <a:latin typeface="Inter"/>
              </a:rPr>
              <a:t>Mejoras según necesidades reales de los agentes.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846320"/>
            <a:ext cx="457200" cy="457200"/>
          </a:xfrm>
          <a:prstGeom prst="rect">
            <a:avLst/>
          </a:prstGeom>
          <a:solidFill>
            <a:srgbClr val="7C4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48463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828032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061330"/>
                </a:solidFill>
                <a:latin typeface="Inter"/>
              </a:rPr>
              <a:t>Evolución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5157216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5B6070"/>
                </a:solidFill>
                <a:latin typeface="Inter"/>
              </a:rPr>
              <a:t>Instructores in-house y suscripción de grabadas.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37376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Alleanza Academy · Alineación estratégica previa al lanzamiento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37376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5B6070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